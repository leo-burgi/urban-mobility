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809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USO DE LA BICICLETA COMO MEDIO DE TRANSPORTE URBANO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9F9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F0F9F9"/>
                </a:solidFill>
                <a:latin typeface="Calibri"/>
                <a:ea typeface="Calibri"/>
                <a:cs typeface="Calibri"/>
                <a:sym typeface="Calibri"/>
              </a:rPr>
              <a:t>Análisis en estudiantes universitarios de Rafaela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200400" y="3200400"/>
            <a:ext cx="27432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3520455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9F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0F9F9"/>
                </a:solidFill>
                <a:latin typeface="Calibri"/>
                <a:ea typeface="Calibri"/>
                <a:cs typeface="Calibri"/>
                <a:sym typeface="Calibri"/>
              </a:rPr>
              <a:t>Leonel Nicolás Bürgi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9F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0F9F9"/>
                </a:solidFill>
                <a:latin typeface="Calibri"/>
                <a:ea typeface="Calibri"/>
                <a:cs typeface="Calibri"/>
                <a:sym typeface="Calibri"/>
              </a:rPr>
              <a:t>Tecnicatura Superior en Desarrollo de Software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9F9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0F9F9"/>
                </a:solidFill>
                <a:latin typeface="Calibri"/>
                <a:ea typeface="Calibri"/>
                <a:cs typeface="Calibri"/>
                <a:sym typeface="Calibri"/>
              </a:rPr>
              <a:t>ISP N°2 – Joaquín V. González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Febrero </a:t>
            </a:r>
            <a:r>
              <a:rPr b="0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202</a:t>
            </a:r>
            <a:r>
              <a:rPr lang="en-US" sz="12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8437" y="4160525"/>
            <a:ext cx="607125" cy="58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F5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14F59"/>
                </a:solidFill>
                <a:latin typeface="Calibri"/>
                <a:ea typeface="Calibri"/>
                <a:cs typeface="Calibri"/>
                <a:sym typeface="Calibri"/>
              </a:rPr>
              <a:t>CONTEXTO Y PROBLEMA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457200" y="1097280"/>
            <a:ext cx="73152" cy="3474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640080" y="1280160"/>
            <a:ext cx="34747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EL PROBLEMA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 Rafaela, pese a contar con población estudiantil numerosa y distancias urbanas cortas, el uso de la bicicleta como medio de transporte no es masivo.</a:t>
            </a:r>
            <a:endParaRPr b="0" i="0" sz="14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t/>
            </a:r>
            <a:endParaRPr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Factores que influyen: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822960" y="3200400"/>
            <a:ext cx="32004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Falta de estacionamientos seguros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Percepción de inseguridad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Infraestructura vial deficiente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Escasa cultura vial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846320" y="1097280"/>
            <a:ext cx="384048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846320" y="1097280"/>
            <a:ext cx="3840480" cy="5486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4846320" y="118872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DATOS CLAVE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029200" y="2103120"/>
            <a:ext cx="1645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89%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029200" y="2743200"/>
            <a:ext cx="1645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tiene bicicleta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765050" y="2103125"/>
            <a:ext cx="173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49.7%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858000" y="2743200"/>
            <a:ext cx="1645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usa regularmente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029200" y="365760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Brecha de uso: 40% tiene bicicleta pero no la usa para estudiar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F5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14F59"/>
                </a:solidFill>
                <a:latin typeface="Calibri"/>
                <a:ea typeface="Calibri"/>
                <a:cs typeface="Calibri"/>
                <a:sym typeface="Calibri"/>
              </a:rPr>
              <a:t>OBJETIVOS DEL ESTUDIO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028090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640075" y="1508750"/>
            <a:ext cx="8089200" cy="34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Analizar el patrón de uso de la bicicleta como medio de transporte entre estudiantes universitarios de Rafaela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457200" y="2286000"/>
            <a:ext cx="38862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457200" y="2286000"/>
            <a:ext cx="73152" cy="10972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640080" y="24231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IDENTIFICAR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40080" y="274320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Proporción de estudiantes que usan la bicicleta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4800600" y="2286000"/>
            <a:ext cx="38862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4800600" y="2286000"/>
            <a:ext cx="73152" cy="10972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4983480" y="24231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EVALUAR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983480" y="274320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Influencia de infraestructura, seguridad y clima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57200" y="3566160"/>
            <a:ext cx="38862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457200" y="3566160"/>
            <a:ext cx="73152" cy="10972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640080" y="370332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ANALIZAR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40080" y="402336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Relación entre factores demográficos y uso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800600" y="3566160"/>
            <a:ext cx="38862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4800600" y="3566160"/>
            <a:ext cx="73152" cy="10972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4983480" y="370332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PROPONER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983480" y="402336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Criterios para solución tecnológica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F5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14F59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TIPO DE ESTUDIO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822960" y="182880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Cuantitativo y exploratorio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Diseño descriptivo y correlacional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Transversal (junio-noviembre 2025)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640080" y="29260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INSTRUMENTO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822960" y="338328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Encuesta digital estructurada (Google Forms) con preguntas sobre frecuencia de uso, percepciones de seguridad, infraestructura y cultura vial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4754880" y="1097280"/>
            <a:ext cx="393192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4937760" y="1280160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MUESTRA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4937760" y="192024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181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937760" y="260604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respuestas válidas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4937760" y="310896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INSTITUCIONES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4937760" y="342900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UNRaf • UTN • UCSF • ITEC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ISP N°2 • UCES • UCSE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937760" y="41148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Nivel de confianza: 90% | Margen de error: 5%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F5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14F59"/>
                </a:solidFill>
                <a:latin typeface="Calibri"/>
                <a:ea typeface="Calibri"/>
                <a:cs typeface="Calibri"/>
                <a:sym typeface="Calibri"/>
              </a:rPr>
              <a:t>MEDIO DE TRANSPORTE PRINCIPAL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6035040" y="118872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6035040" y="1188720"/>
            <a:ext cx="2651760" cy="45720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6035040" y="128016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HALLAZGO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6172200" y="196596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49.7%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6172200" y="260604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usa bicicleta como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medio principal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6172200" y="338328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bicicleta es el medio MÁS USADO, superando a moto (24%) y auto (22%)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7"/>
          <p:cNvPicPr preferRelativeResize="0"/>
          <p:nvPr/>
        </p:nvPicPr>
        <p:blipFill rotWithShape="1">
          <a:blip r:embed="rId3">
            <a:alphaModFix/>
          </a:blip>
          <a:srcRect b="5038" l="2654" r="97" t="17919"/>
          <a:stretch/>
        </p:blipFill>
        <p:spPr>
          <a:xfrm>
            <a:off x="457200" y="1188725"/>
            <a:ext cx="5303525" cy="32004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16200000" dist="28575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F5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14F59"/>
                </a:solidFill>
                <a:latin typeface="Calibri"/>
                <a:ea typeface="Calibri"/>
                <a:cs typeface="Calibri"/>
                <a:sym typeface="Calibri"/>
              </a:rPr>
              <a:t>FRECUENCIA DE USO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8"/>
          <p:cNvSpPr/>
          <p:nvPr/>
        </p:nvSpPr>
        <p:spPr>
          <a:xfrm>
            <a:off x="5760720" y="1188720"/>
            <a:ext cx="29260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5943600" y="13716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DATOS DESTACADOS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8"/>
          <p:cNvSpPr/>
          <p:nvPr/>
        </p:nvSpPr>
        <p:spPr>
          <a:xfrm>
            <a:off x="5943600" y="192024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31.5%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8"/>
          <p:cNvSpPr/>
          <p:nvPr/>
        </p:nvSpPr>
        <p:spPr>
          <a:xfrm>
            <a:off x="5943600" y="2423160"/>
            <a:ext cx="2560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Usa TODOS LOS DÍAS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/>
          <p:nvPr/>
        </p:nvSpPr>
        <p:spPr>
          <a:xfrm>
            <a:off x="5943600" y="2926080"/>
            <a:ext cx="256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38.1%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5943600" y="33832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Nunca usa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5943600" y="38404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 quienes SÍ usan, la mayoría lo hace intensivamente (3+ veces/semana)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8"/>
          <p:cNvPicPr preferRelativeResize="0"/>
          <p:nvPr/>
        </p:nvPicPr>
        <p:blipFill rotWithShape="1">
          <a:blip r:embed="rId3">
            <a:alphaModFix/>
          </a:blip>
          <a:srcRect b="0" l="10064" r="43595" t="25876"/>
          <a:stretch/>
        </p:blipFill>
        <p:spPr>
          <a:xfrm>
            <a:off x="457200" y="1188725"/>
            <a:ext cx="4764375" cy="32004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16200000" dist="28575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F5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14F59"/>
                </a:solidFill>
                <a:latin typeface="Calibri"/>
                <a:ea typeface="Calibri"/>
                <a:cs typeface="Calibri"/>
                <a:sym typeface="Calibri"/>
              </a:rPr>
              <a:t>BARRERAS PARA EL USO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5760720" y="1188720"/>
            <a:ext cx="29260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/>
          <p:cNvSpPr/>
          <p:nvPr/>
        </p:nvSpPr>
        <p:spPr>
          <a:xfrm>
            <a:off x="5943600" y="13716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INTERPRETACIÓN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/>
          <p:nvPr/>
        </p:nvSpPr>
        <p:spPr>
          <a:xfrm>
            <a:off x="5943600" y="1828800"/>
            <a:ext cx="25603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Los beneficios individuales compiten con </a:t>
            </a: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fallas sistémicas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del entorno.</a:t>
            </a:r>
            <a:b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lang="en-US" sz="12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comodidad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de contar con otro vehículo resulta la barrera de uso más mencionada.</a:t>
            </a:r>
            <a:b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Inseguridad y distancia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mpatan 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prácticamente</a:t>
            </a: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como principales barreras estructurales me</a:t>
            </a:r>
            <a:r>
              <a:rPr lang="en-US" sz="11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ncionadas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9"/>
          <p:cNvPicPr preferRelativeResize="0"/>
          <p:nvPr/>
        </p:nvPicPr>
        <p:blipFill rotWithShape="1">
          <a:blip r:embed="rId3">
            <a:alphaModFix/>
          </a:blip>
          <a:srcRect b="0" l="0" r="1088" t="0"/>
          <a:stretch/>
        </p:blipFill>
        <p:spPr>
          <a:xfrm>
            <a:off x="288925" y="1188725"/>
            <a:ext cx="5093850" cy="32004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16260000" dist="28575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F5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14F59"/>
                </a:solidFill>
                <a:latin typeface="Calibri"/>
                <a:ea typeface="Calibri"/>
                <a:cs typeface="Calibri"/>
                <a:sym typeface="Calibri"/>
              </a:rPr>
              <a:t>MOTIVOS PARA USAR LA BICICLETA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5760720" y="1188720"/>
            <a:ext cx="292608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"/>
          <p:cNvSpPr/>
          <p:nvPr/>
        </p:nvSpPr>
        <p:spPr>
          <a:xfrm>
            <a:off x="5943600" y="13716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ANÁLISIS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5943600" y="1828800"/>
            <a:ext cx="25603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Beneficios individuales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priman sobre conciencia ambiental.</a:t>
            </a:r>
            <a:b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SALUD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(69) y </a:t>
            </a:r>
            <a:r>
              <a:rPr b="1" i="0" lang="en-US" sz="12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ECONOMÍA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(53) </a:t>
            </a:r>
            <a:endParaRPr b="0" i="0" sz="12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son los motivadores principales.</a:t>
            </a:r>
            <a:b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200" u="none" cap="none" strike="noStrike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Sustentabilidad tiene bajo peso </a:t>
            </a:r>
            <a:endParaRPr b="0" i="1" sz="1100" u="none" cap="none" strike="noStrike">
              <a:solidFill>
                <a:srgbClr val="64748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(10 menciones)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9" name="Google Shape;129;p10"/>
          <p:cNvPicPr preferRelativeResize="0"/>
          <p:nvPr/>
        </p:nvPicPr>
        <p:blipFill rotWithShape="1">
          <a:blip r:embed="rId3">
            <a:alphaModFix/>
          </a:blip>
          <a:srcRect b="0" l="0" r="19113" t="0"/>
          <a:stretch/>
        </p:blipFill>
        <p:spPr>
          <a:xfrm>
            <a:off x="282850" y="1188725"/>
            <a:ext cx="5158125" cy="32004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16200000" dist="28575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F5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14F59"/>
                </a:solidFill>
                <a:latin typeface="Calibri"/>
                <a:ea typeface="Calibri"/>
                <a:cs typeface="Calibri"/>
                <a:sym typeface="Calibri"/>
              </a:rPr>
              <a:t>PERCEPCIÓN DE SEGURIDAD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1"/>
          <p:cNvSpPr/>
          <p:nvPr/>
        </p:nvSpPr>
        <p:spPr>
          <a:xfrm>
            <a:off x="457200" y="1188720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"/>
          <p:cNvSpPr/>
          <p:nvPr/>
        </p:nvSpPr>
        <p:spPr>
          <a:xfrm>
            <a:off x="640080" y="146304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27.1%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640080" y="2140498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sufrió robo 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 bicicleta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640080" y="27432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49 de 181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estudiantes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1"/>
          <p:cNvSpPr/>
          <p:nvPr/>
        </p:nvSpPr>
        <p:spPr>
          <a:xfrm>
            <a:off x="3383280" y="1188720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"/>
          <p:cNvSpPr/>
          <p:nvPr/>
        </p:nvSpPr>
        <p:spPr>
          <a:xfrm>
            <a:off x="3566160" y="1463040"/>
            <a:ext cx="23774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70.7%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1"/>
          <p:cNvSpPr/>
          <p:nvPr/>
        </p:nvSpPr>
        <p:spPr>
          <a:xfrm>
            <a:off x="3566160" y="2140498"/>
            <a:ext cx="2377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califica iluminación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como Regular o Pobre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1"/>
          <p:cNvSpPr/>
          <p:nvPr/>
        </p:nvSpPr>
        <p:spPr>
          <a:xfrm>
            <a:off x="3566160" y="274320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128 de 181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encuestados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1"/>
          <p:cNvSpPr/>
          <p:nvPr/>
        </p:nvSpPr>
        <p:spPr>
          <a:xfrm>
            <a:off x="6309360" y="1188720"/>
            <a:ext cx="23774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"/>
          <p:cNvSpPr/>
          <p:nvPr/>
        </p:nvSpPr>
        <p:spPr>
          <a:xfrm>
            <a:off x="6400800" y="146304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5400"/>
              <a:buFont typeface="Calibri"/>
              <a:buNone/>
            </a:pPr>
            <a:r>
              <a:rPr b="1" i="0" lang="en-US" sz="5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88.4%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1"/>
          <p:cNvSpPr/>
          <p:nvPr/>
        </p:nvSpPr>
        <p:spPr>
          <a:xfrm>
            <a:off x="6400800" y="2140498"/>
            <a:ext cx="21945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inter</a:t>
            </a: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esado</a:t>
            </a: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seguro contra robo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1"/>
          <p:cNvSpPr/>
          <p:nvPr/>
        </p:nvSpPr>
        <p:spPr>
          <a:xfrm>
            <a:off x="6400800" y="27432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160 de 181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respuestas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457200" y="3383280"/>
            <a:ext cx="8229600" cy="1005900"/>
          </a:xfrm>
          <a:prstGeom prst="rect">
            <a:avLst/>
          </a:prstGeom>
          <a:solidFill>
            <a:srgbClr val="FEF3C7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1"/>
          <p:cNvSpPr/>
          <p:nvPr/>
        </p:nvSpPr>
        <p:spPr>
          <a:xfrm>
            <a:off x="1178100" y="3657600"/>
            <a:ext cx="67878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 La inseguridad no es una "vaga sensación", </a:t>
            </a:r>
            <a:endParaRPr b="1" i="0" sz="1300" u="none" cap="none" strike="noStrike">
              <a:solidFill>
                <a:srgbClr val="78350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es una realidad estadística validada por experiencias de robo y deficiencias en infraestructura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1"/>
          <p:cNvSpPr txBox="1"/>
          <p:nvPr/>
        </p:nvSpPr>
        <p:spPr>
          <a:xfrm>
            <a:off x="640075" y="3586050"/>
            <a:ext cx="640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/>
          </a:p>
        </p:txBody>
      </p:sp>
      <p:sp>
        <p:nvSpPr>
          <p:cNvPr id="151" name="Google Shape;151;p11"/>
          <p:cNvSpPr txBox="1"/>
          <p:nvPr/>
        </p:nvSpPr>
        <p:spPr>
          <a:xfrm>
            <a:off x="7965900" y="3586050"/>
            <a:ext cx="6402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F5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14F59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2"/>
          <p:cNvSpPr/>
          <p:nvPr/>
        </p:nvSpPr>
        <p:spPr>
          <a:xfrm>
            <a:off x="640080" y="123444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bicicleta es el medio de movilidad MÁS IMPORTANTE para estudiantes terciarios de Rafaela, pero se usa en un contexto de alta vulnerabilidad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457200" y="2103120"/>
            <a:ext cx="38862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2"/>
          <p:cNvSpPr/>
          <p:nvPr/>
        </p:nvSpPr>
        <p:spPr>
          <a:xfrm>
            <a:off x="457200" y="2103120"/>
            <a:ext cx="3886200" cy="3200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2"/>
          <p:cNvSpPr/>
          <p:nvPr/>
        </p:nvSpPr>
        <p:spPr>
          <a:xfrm>
            <a:off x="594360" y="2148840"/>
            <a:ext cx="3611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ES PROBLEMA DE ACCESO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594360" y="2480294"/>
            <a:ext cx="361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89% tiene bicicleta. La brecha no es económica sino de experiencia y seguridad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2"/>
          <p:cNvSpPr/>
          <p:nvPr/>
        </p:nvSpPr>
        <p:spPr>
          <a:xfrm>
            <a:off x="4800600" y="2103120"/>
            <a:ext cx="38862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"/>
          <p:cNvSpPr/>
          <p:nvPr/>
        </p:nvSpPr>
        <p:spPr>
          <a:xfrm>
            <a:off x="4800600" y="2103120"/>
            <a:ext cx="3886200" cy="3200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"/>
          <p:cNvSpPr/>
          <p:nvPr/>
        </p:nvSpPr>
        <p:spPr>
          <a:xfrm>
            <a:off x="4937760" y="2148840"/>
            <a:ext cx="3611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FALLA DE SEGURIDAD OBJETIVA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2"/>
          <p:cNvSpPr/>
          <p:nvPr/>
        </p:nvSpPr>
        <p:spPr>
          <a:xfrm>
            <a:off x="4937760" y="2480294"/>
            <a:ext cx="361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27.1% sufrió robo. El temor no es percepción, es realidad estadística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2"/>
          <p:cNvSpPr/>
          <p:nvPr/>
        </p:nvSpPr>
        <p:spPr>
          <a:xfrm>
            <a:off x="457200" y="3383280"/>
            <a:ext cx="38862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2"/>
          <p:cNvSpPr/>
          <p:nvPr/>
        </p:nvSpPr>
        <p:spPr>
          <a:xfrm>
            <a:off x="457200" y="3383280"/>
            <a:ext cx="3886200" cy="3200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"/>
          <p:cNvSpPr/>
          <p:nvPr/>
        </p:nvSpPr>
        <p:spPr>
          <a:xfrm>
            <a:off x="594360" y="3429000"/>
            <a:ext cx="3611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INFRAESTRUCTURA DEFICIENTE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2"/>
          <p:cNvSpPr/>
          <p:nvPr/>
        </p:nvSpPr>
        <p:spPr>
          <a:xfrm>
            <a:off x="594360" y="3760454"/>
            <a:ext cx="361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70.7% reporta iluminación inadecuada. Crítico para estudiantes nocturnos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4800600" y="3383280"/>
            <a:ext cx="388620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"/>
          <p:cNvSpPr/>
          <p:nvPr/>
        </p:nvSpPr>
        <p:spPr>
          <a:xfrm>
            <a:off x="4800600" y="3383280"/>
            <a:ext cx="3886200" cy="32004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2"/>
          <p:cNvSpPr/>
          <p:nvPr/>
        </p:nvSpPr>
        <p:spPr>
          <a:xfrm>
            <a:off x="4937760" y="3429000"/>
            <a:ext cx="3611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DEMANDA INSATISFECHA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4937760" y="3760454"/>
            <a:ext cx="361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88.4% busca soluciones (seguros). Existe voluntad de gestionar el riesgo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4F5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14F59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"/>
          <p:cNvSpPr/>
          <p:nvPr/>
        </p:nvSpPr>
        <p:spPr>
          <a:xfrm>
            <a:off x="594360" y="132588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3"/>
          <p:cNvSpPr/>
          <p:nvPr/>
        </p:nvSpPr>
        <p:spPr>
          <a:xfrm>
            <a:off x="594360" y="13258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/>
          <p:nvPr/>
        </p:nvSpPr>
        <p:spPr>
          <a:xfrm>
            <a:off x="1188720" y="1325880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PRIORIZAR SEGURIDAD EN EL TRAYECTO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3"/>
          <p:cNvSpPr/>
          <p:nvPr/>
        </p:nvSpPr>
        <p:spPr>
          <a:xfrm>
            <a:off x="1188720" y="1512899"/>
            <a:ext cx="722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Implementar "corredor universitario" con iluminación LED de alta potencia y patrullaje focalizado en horarios 19:00-23:00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457200" y="2057400"/>
            <a:ext cx="822960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3"/>
          <p:cNvSpPr/>
          <p:nvPr/>
        </p:nvSpPr>
        <p:spPr>
          <a:xfrm>
            <a:off x="594360" y="219456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3"/>
          <p:cNvSpPr/>
          <p:nvPr/>
        </p:nvSpPr>
        <p:spPr>
          <a:xfrm>
            <a:off x="594360" y="2194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1188720" y="2194560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SOLUCIÓN TECNOLÓGICA AL RIESGO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1188720" y="2381579"/>
            <a:ext cx="722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Plataforma digital de registro de bicicletas y seguro contra robo colectivo de bajo costo para estudiantes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3"/>
          <p:cNvSpPr/>
          <p:nvPr/>
        </p:nvSpPr>
        <p:spPr>
          <a:xfrm>
            <a:off x="594360" y="306324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3"/>
          <p:cNvSpPr/>
          <p:nvPr/>
        </p:nvSpPr>
        <p:spPr>
          <a:xfrm>
            <a:off x="594360" y="3063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1188720" y="3063240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MANTENIMIENTO Y CONECTIVIDAD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1188720" y="3250259"/>
            <a:ext cx="722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Auditar red de ciclovías y priorizar bacheo y conexión de tramos inconexos. Mejorar antes que expandir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3"/>
          <p:cNvSpPr/>
          <p:nvPr/>
        </p:nvSpPr>
        <p:spPr>
          <a:xfrm>
            <a:off x="594360" y="3931920"/>
            <a:ext cx="457200" cy="45720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3"/>
          <p:cNvSpPr/>
          <p:nvPr/>
        </p:nvSpPr>
        <p:spPr>
          <a:xfrm>
            <a:off x="594360" y="3931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1188720" y="3931920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CULTURA VIAL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1188720" y="4118939"/>
            <a:ext cx="7223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Campañas dirigidas a conductores sobre respeto al ciclista y normativas de prioridad en la vía pública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8090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SÍNTESIS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3200400" y="1828800"/>
            <a:ext cx="2743200" cy="457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"/>
          <p:cNvSpPr/>
          <p:nvPr/>
        </p:nvSpPr>
        <p:spPr>
          <a:xfrm>
            <a:off x="914400" y="2201835"/>
            <a:ext cx="73152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9F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0F9F9"/>
                </a:solidFill>
                <a:latin typeface="Calibri"/>
                <a:ea typeface="Calibri"/>
                <a:cs typeface="Calibri"/>
                <a:sym typeface="Calibri"/>
              </a:rPr>
              <a:t>El estudiante rafaelino elige la bicicleta por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salud y economía</a:t>
            </a:r>
            <a:r>
              <a:rPr b="0" i="0" lang="en-US" sz="1600" u="none" cap="none" strike="noStrike">
                <a:solidFill>
                  <a:srgbClr val="F0F9F9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endParaRPr b="0" i="0" sz="1600" u="none" cap="none" strike="noStrike">
              <a:solidFill>
                <a:srgbClr val="F0F9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9F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0F9F9"/>
                </a:solidFill>
                <a:latin typeface="Calibri"/>
                <a:ea typeface="Calibri"/>
                <a:cs typeface="Calibri"/>
                <a:sym typeface="Calibri"/>
              </a:rPr>
              <a:t>pero la abandona por </a:t>
            </a: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inseguridad y falta de infraestructura.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b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9F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0F9F9"/>
                </a:solidFill>
                <a:latin typeface="Calibri"/>
                <a:ea typeface="Calibri"/>
                <a:cs typeface="Calibri"/>
                <a:sym typeface="Calibri"/>
              </a:rPr>
              <a:t>La ciudad puede elevar la movilidad ciclista por encima del </a:t>
            </a:r>
            <a:r>
              <a:rPr b="1" i="0" lang="en-US" sz="2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50%</a:t>
            </a:r>
            <a:r>
              <a:rPr b="0" i="0" lang="en-US" sz="1600" u="none" cap="none" strike="noStrike">
                <a:solidFill>
                  <a:srgbClr val="F0F9F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rgbClr val="F0F9F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9F9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0F9F9"/>
                </a:solidFill>
                <a:latin typeface="Calibri"/>
                <a:ea typeface="Calibri"/>
                <a:cs typeface="Calibri"/>
                <a:sym typeface="Calibri"/>
              </a:rPr>
              <a:t>si resuelve la ecuación de seguridad.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F9F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9F9"/>
                </a:solidFill>
                <a:latin typeface="Calibri"/>
                <a:ea typeface="Calibri"/>
                <a:cs typeface="Calibri"/>
                <a:sym typeface="Calibri"/>
              </a:rPr>
              <a:t>Leonel Nicolás Bürgi | ISP N°2 Joaquín V. González | 2025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